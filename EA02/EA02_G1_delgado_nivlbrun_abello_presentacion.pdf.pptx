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022527" y="4396740"/>
            <a:ext cx="10242947" cy="1268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Propuesta de Proyecto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Sistema de Gestión Bibliotecaria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7254359" y="8421727"/>
            <a:ext cx="3779282" cy="164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Integrantes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Alan Alejandro Abello Dominguez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Josue Israel Delgado Riquelme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Lucas Antonio Armijo San Martín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Nick Vilbrun Trevan</a:t>
            </a:r>
            <a:endParaRPr/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7680781" y="971550"/>
            <a:ext cx="2926437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Introducción</a:t>
            </a:r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1028700" y="2413737"/>
            <a:ext cx="16230600" cy="626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Sistema de Software de Gestión Bibliotecaria desarrollado para la Biblioteca de una universidad.</a:t>
            </a:r>
            <a:endParaRPr/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59080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Objetivo: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Modernizar la gestión de la biblioteca automatizando procesos y mejorar la experiencia del usuario.</a:t>
            </a:r>
            <a:endParaRPr/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59080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Funcionalidades:</a:t>
            </a:r>
            <a:endParaRPr/>
          </a:p>
          <a:p>
            <a:pPr indent="-388620" lvl="3" marL="15544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Administración de usuarios</a:t>
            </a:r>
            <a:endParaRPr/>
          </a:p>
          <a:p>
            <a:pPr indent="-388620" lvl="3" marL="15544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Gestión de inventario</a:t>
            </a:r>
            <a:endParaRPr/>
          </a:p>
          <a:p>
            <a:pPr indent="-388620" lvl="3" marL="15544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Gestión de prestamos y devoluciones</a:t>
            </a:r>
            <a:endParaRPr/>
          </a:p>
          <a:p>
            <a:pPr indent="-388620" lvl="3" marL="15544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Catálogo en linea</a:t>
            </a:r>
            <a:endParaRPr/>
          </a:p>
          <a:p>
            <a:pPr indent="-388620" lvl="3" marL="15544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Recolección de datos y generación de reportes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1028700" y="2621280"/>
            <a:ext cx="16230600" cy="5006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9080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La metodología seleccionada para desarrollar el proyecto es: RUP (Rational Unified Process)</a:t>
            </a:r>
            <a:endParaRPr/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El desarrollo del proyecto se dividió en 4 fases: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Inicio</a:t>
            </a:r>
            <a:endParaRPr/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Elaboración</a:t>
            </a:r>
            <a:endParaRPr/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Construcción</a:t>
            </a:r>
            <a:endParaRPr/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Transición</a:t>
            </a:r>
            <a:endParaRPr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6339542" y="971550"/>
            <a:ext cx="5608915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Desarrollo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4998303" y="971550"/>
            <a:ext cx="8291393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Diseño y Arquitectura del Proyecto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1028700" y="3040380"/>
            <a:ext cx="16230600" cy="5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8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9080" lvl="1" marL="51816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Para diseñar la arquitectura del proyecto se hace uso del Modelo 4 + 1</a:t>
            </a:r>
            <a:endParaRPr/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Vista de Escenarios</a:t>
            </a:r>
            <a:endParaRPr/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Vista Lógica</a:t>
            </a:r>
            <a:endParaRPr/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Vista de Procesos</a:t>
            </a:r>
            <a:endParaRPr/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Vista de Desarrollo</a:t>
            </a:r>
            <a:endParaRPr/>
          </a:p>
          <a:p>
            <a:pPr indent="-388620" lvl="3" marL="15544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￭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Vista Física</a:t>
            </a:r>
            <a:endParaRPr/>
          </a:p>
          <a:p>
            <a:pPr indent="0" lvl="0" marL="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/>
          <p:nvPr/>
        </p:nvSpPr>
        <p:spPr>
          <a:xfrm>
            <a:off x="4342567" y="962025"/>
            <a:ext cx="9602867" cy="702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Especificación de Casos de uso</a:t>
            </a:r>
            <a:endParaRPr/>
          </a:p>
        </p:txBody>
      </p:sp>
      <p:sp>
        <p:nvSpPr>
          <p:cNvPr id="109" name="Google Shape;109;p6"/>
          <p:cNvSpPr txBox="1"/>
          <p:nvPr/>
        </p:nvSpPr>
        <p:spPr>
          <a:xfrm>
            <a:off x="1028700" y="2616169"/>
            <a:ext cx="16230600" cy="8274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Ca</a:t>
            </a: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so de uso: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Registrar prestamo de libro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Actores: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Bibliotecario, Estudiante/Docente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escripción: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Permitir a un Bibliotecario de solicitar el prestamo de un libro en nombre de un usuario, verificando disponibilidad del libro y prestamos pendientes fuera de la fecha de devolución del estudiante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re-condicion: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El miembro de la biblioteca debe haber iniciado sesión con su cuenta registrada. El usuario no debe tener prestamos pendientes fuera de la fecha de devolución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Flujo de eventos: </a:t>
            </a:r>
            <a:endParaRPr/>
          </a:p>
          <a:p>
            <a:pPr indent="-172720" lvl="1" marL="345439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Roboto Mono"/>
              <a:buAutoNum type="arabicPeriod"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Bibliotecario busca al usuario</a:t>
            </a:r>
            <a:endParaRPr/>
          </a:p>
          <a:p>
            <a:pPr indent="-172720" lvl="1" marL="345439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Roboto Mono"/>
              <a:buAutoNum type="arabicPeriod"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Sistema valida el usuario y su estado</a:t>
            </a:r>
            <a:endParaRPr/>
          </a:p>
          <a:p>
            <a:pPr indent="-172720" lvl="1" marL="345439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Roboto Mono"/>
              <a:buAutoNum type="arabicPeriod"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Sistema verifica disponibilidad</a:t>
            </a:r>
            <a:endParaRPr/>
          </a:p>
          <a:p>
            <a:pPr indent="-172720" lvl="1" marL="345439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Roboto Mono"/>
              <a:buAutoNum type="arabicPeriod"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Sistema registra el prestamo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Post-condición: 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El prestamo queda registrado bajo el nombre del usuario.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Excepciones: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El usuario registra prestamos fuera de la fecha de devolución., 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028700" y="2533176"/>
            <a:ext cx="16230600" cy="744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Ca</a:t>
            </a: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so de uso: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Iniciar sesión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Actores: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Usuario registrado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escripción: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El sistema deberá permitir que los usuarios accedan mediante sus correo institucional y contraseña.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re-condicion: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El usuario debe estar registrado.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Flujo de eventos: </a:t>
            </a:r>
            <a:endParaRPr/>
          </a:p>
          <a:p>
            <a:pPr indent="-172720" lvl="1" marL="345439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Roboto Mono"/>
              <a:buAutoNum type="arabicPeriod"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Usuario ingresa su correo institucional y contraseña</a:t>
            </a:r>
            <a:endParaRPr/>
          </a:p>
          <a:p>
            <a:pPr indent="-172720" lvl="1" marL="345439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Roboto Mono"/>
              <a:buAutoNum type="arabicPeriod"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El sistema verifica las credenciales del usuario</a:t>
            </a:r>
            <a:endParaRPr/>
          </a:p>
          <a:p>
            <a:pPr indent="-172720" lvl="1" marL="345439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Roboto Mono"/>
              <a:buAutoNum type="arabicPeriod"/>
            </a:pP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El sistema redirige al usuario al catalogo en linea.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Post-condición: 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El prestamo queda registrado bajo el nombre del usuario.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Excepciones:</a:t>
            </a:r>
            <a:r>
              <a:rPr b="0" i="0" lang="en-US" sz="15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Credenciales incorrectas, 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4342567" y="962025"/>
            <a:ext cx="9602867" cy="702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Especificación de Casos de uso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/>
        </p:nvSpPr>
        <p:spPr>
          <a:xfrm>
            <a:off x="6263164" y="962025"/>
            <a:ext cx="5761673" cy="702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Otros Casos de Uso</a:t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6060143" y="4088130"/>
            <a:ext cx="6167713" cy="207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Gestión de libros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Registro de usuarios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Busqueda de libros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Registro de devolución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Generación de reportes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/>
          <p:nvPr/>
        </p:nvSpPr>
        <p:spPr>
          <a:xfrm>
            <a:off x="5461716" y="1980616"/>
            <a:ext cx="7364568" cy="7364568"/>
          </a:xfrm>
          <a:custGeom>
            <a:rect b="b" l="l" r="r" t="t"/>
            <a:pathLst>
              <a:path extrusionOk="0" h="7364568" w="7364568">
                <a:moveTo>
                  <a:pt x="0" y="0"/>
                </a:moveTo>
                <a:lnTo>
                  <a:pt x="7364568" y="0"/>
                </a:lnTo>
                <a:lnTo>
                  <a:pt x="7364568" y="7364568"/>
                </a:lnTo>
                <a:lnTo>
                  <a:pt x="0" y="7364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9"/>
          <p:cNvSpPr txBox="1"/>
          <p:nvPr/>
        </p:nvSpPr>
        <p:spPr>
          <a:xfrm>
            <a:off x="3757475" y="962025"/>
            <a:ext cx="1092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Modelo 4 + 1:</a:t>
            </a:r>
            <a:r>
              <a:rPr b="0" i="0" lang="en-US" sz="4200" u="none" cap="none" strike="noStrike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Vista de Escenarios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/>
          <p:nvPr/>
        </p:nvSpPr>
        <p:spPr>
          <a:xfrm>
            <a:off x="4117752" y="3073869"/>
            <a:ext cx="10052495" cy="4139263"/>
          </a:xfrm>
          <a:custGeom>
            <a:rect b="b" l="l" r="r" t="t"/>
            <a:pathLst>
              <a:path extrusionOk="0" h="4139263" w="10052495">
                <a:moveTo>
                  <a:pt x="0" y="0"/>
                </a:moveTo>
                <a:lnTo>
                  <a:pt x="10052496" y="0"/>
                </a:lnTo>
                <a:lnTo>
                  <a:pt x="10052496" y="4139262"/>
                </a:lnTo>
                <a:lnTo>
                  <a:pt x="0" y="4139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0"/>
          <p:cNvSpPr txBox="1"/>
          <p:nvPr/>
        </p:nvSpPr>
        <p:spPr>
          <a:xfrm>
            <a:off x="4572000" y="962025"/>
            <a:ext cx="905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Modelo 4 + 1:</a:t>
            </a:r>
            <a:r>
              <a:rPr b="0" i="0" lang="en-US" sz="4200" u="none" cap="none" strike="noStrike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Vista Lógica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5213915" y="1829157"/>
            <a:ext cx="7860169" cy="8457847"/>
          </a:xfrm>
          <a:custGeom>
            <a:rect b="b" l="l" r="r" t="t"/>
            <a:pathLst>
              <a:path extrusionOk="0" h="8457847" w="7860169">
                <a:moveTo>
                  <a:pt x="0" y="0"/>
                </a:moveTo>
                <a:lnTo>
                  <a:pt x="7860170" y="0"/>
                </a:lnTo>
                <a:lnTo>
                  <a:pt x="7860170" y="8457846"/>
                </a:lnTo>
                <a:lnTo>
                  <a:pt x="0" y="8457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7359"/>
            </a:stretch>
          </a:blipFill>
          <a:ln>
            <a:noFill/>
          </a:ln>
        </p:spPr>
      </p:sp>
      <p:sp>
        <p:nvSpPr>
          <p:cNvPr id="139" name="Google Shape;139;p11"/>
          <p:cNvSpPr txBox="1"/>
          <p:nvPr/>
        </p:nvSpPr>
        <p:spPr>
          <a:xfrm>
            <a:off x="3198175" y="962025"/>
            <a:ext cx="1154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Modelo 4 + 1:</a:t>
            </a:r>
            <a:r>
              <a:rPr b="0" i="0" lang="en-US" sz="4200" u="none" cap="none" strike="noStrike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Vista de Procesos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5809363" y="2640136"/>
            <a:ext cx="6669274" cy="6929387"/>
          </a:xfrm>
          <a:custGeom>
            <a:rect b="b" l="l" r="r" t="t"/>
            <a:pathLst>
              <a:path extrusionOk="0" h="6929387" w="6669274">
                <a:moveTo>
                  <a:pt x="0" y="0"/>
                </a:moveTo>
                <a:lnTo>
                  <a:pt x="6669274" y="0"/>
                </a:lnTo>
                <a:lnTo>
                  <a:pt x="6669274" y="6929387"/>
                </a:lnTo>
                <a:lnTo>
                  <a:pt x="0" y="6929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9581"/>
            </a:stretch>
          </a:blipFill>
          <a:ln>
            <a:noFill/>
          </a:ln>
        </p:spPr>
      </p:sp>
      <p:sp>
        <p:nvSpPr>
          <p:cNvPr id="145" name="Google Shape;145;p12"/>
          <p:cNvSpPr txBox="1"/>
          <p:nvPr/>
        </p:nvSpPr>
        <p:spPr>
          <a:xfrm>
            <a:off x="2918525" y="962025"/>
            <a:ext cx="119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Modelo 4 + 1:</a:t>
            </a:r>
            <a:r>
              <a:rPr b="0" i="0" lang="en-US" sz="4200" u="none" cap="none" strike="noStrike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Vista de Desarrollo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/>
          <p:nvPr/>
        </p:nvSpPr>
        <p:spPr>
          <a:xfrm>
            <a:off x="6645813" y="2106033"/>
            <a:ext cx="4996373" cy="7419364"/>
          </a:xfrm>
          <a:custGeom>
            <a:rect b="b" l="l" r="r" t="t"/>
            <a:pathLst>
              <a:path extrusionOk="0" h="7419364" w="4996373">
                <a:moveTo>
                  <a:pt x="0" y="0"/>
                </a:moveTo>
                <a:lnTo>
                  <a:pt x="4996374" y="0"/>
                </a:lnTo>
                <a:lnTo>
                  <a:pt x="4996374" y="7419364"/>
                </a:lnTo>
                <a:lnTo>
                  <a:pt x="0" y="74193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3"/>
          <p:cNvSpPr txBox="1"/>
          <p:nvPr/>
        </p:nvSpPr>
        <p:spPr>
          <a:xfrm>
            <a:off x="4176950" y="962025"/>
            <a:ext cx="962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Modelo 4 + 1:</a:t>
            </a:r>
            <a:r>
              <a:rPr b="0" i="0" lang="en-US" sz="4200" u="none" cap="none" strike="noStrike">
                <a:solidFill>
                  <a:srgbClr val="000000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 Vista Física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/>
        </p:nvSpPr>
        <p:spPr>
          <a:xfrm>
            <a:off x="6583382" y="971550"/>
            <a:ext cx="5121236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Estandares de calidad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5930123" y="3441065"/>
            <a:ext cx="64278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48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5439" lvl="1" marL="69087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ISO 25010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5439" lvl="1" marL="69087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Heurísticas de Nielsen</a:t>
            </a:r>
            <a:endParaRPr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5439" lvl="1" marL="690879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WCAG 2.1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/>
        </p:nvSpPr>
        <p:spPr>
          <a:xfrm>
            <a:off x="7013350" y="4758700"/>
            <a:ext cx="415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CONCLUSIÓN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